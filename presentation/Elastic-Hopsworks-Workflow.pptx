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3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1945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1">
                <a:solidFill>
                  <a:srgbClr val="42D6A1"/>
                </a:solidFill>
                <a:latin typeface="Aptos"/>
              </a:defRPr>
            </a:pPr>
            <a:r>
              <a:rPr>
                <a:latin typeface="Arial"/>
              </a:rPr>
              <a:t>PITLANE  /  DATA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02920"/>
            <a:ext cx="80467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500" b="1">
                <a:solidFill>
                  <a:srgbClr val="F3F6FA"/>
                </a:solidFill>
                <a:latin typeface="Aptos"/>
              </a:defRPr>
            </a:pPr>
            <a:r>
              <a:rPr>
                <a:latin typeface="Arial"/>
              </a:rPr>
              <a:t>FROM RACE DATA TO TRUSTED 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AAB7C5"/>
                </a:solidFill>
                <a:latin typeface="Aptos"/>
              </a:defRPr>
            </a:pPr>
            <a:r>
              <a:rPr>
                <a:latin typeface="Arial"/>
              </a:rPr>
              <a:t>Bounded Elastic reads  →  versioned Hopsworks features  →  verified dashboard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23960" y="475488"/>
            <a:ext cx="2834640" cy="475488"/>
          </a:xfrm>
          <a:prstGeom prst="roundRect">
            <a:avLst>
              <a:gd name="adj" fmla="val 14000"/>
            </a:avLst>
          </a:prstGeom>
          <a:solidFill>
            <a:srgbClr val="151F29"/>
          </a:solidFill>
          <a:ln>
            <a:solidFill>
              <a:srgbClr val="29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51976" y="521207"/>
            <a:ext cx="257860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900" b="1">
                <a:solidFill>
                  <a:srgbClr val="4DB3F2"/>
                </a:solidFill>
                <a:latin typeface="Aptos"/>
              </a:defRPr>
            </a:pPr>
            <a:r>
              <a:rPr>
                <a:latin typeface="Arial"/>
              </a:rPr>
              <a:t>SOURCE  ·  DUTCH GP 2023 / 2024 LITE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057400" cy="3063240"/>
          </a:xfrm>
          <a:prstGeom prst="roundRect">
            <a:avLst>
              <a:gd name="adj" fmla="val 14000"/>
            </a:avLst>
          </a:prstGeom>
          <a:solidFill>
            <a:srgbClr val="151F29"/>
          </a:solidFill>
          <a:ln>
            <a:solidFill>
              <a:srgbClr val="29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837943"/>
            <a:ext cx="2039112" cy="64008"/>
          </a:xfrm>
          <a:prstGeom prst="rect">
            <a:avLst/>
          </a:prstGeom>
          <a:solidFill>
            <a:srgbClr val="4DB3F2"/>
          </a:solidFill>
          <a:ln>
            <a:solidFill>
              <a:srgbClr val="4DB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2029968"/>
            <a:ext cx="347472" cy="347472"/>
          </a:xfrm>
          <a:prstGeom prst="ellipse">
            <a:avLst/>
          </a:prstGeom>
          <a:solidFill>
            <a:srgbClr val="4DB3F2"/>
          </a:solidFill>
          <a:ln>
            <a:solidFill>
              <a:srgbClr val="4DB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25395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0D131A"/>
                </a:solidFill>
                <a:latin typeface="Aptos"/>
              </a:defRPr>
            </a:pPr>
            <a:r>
              <a:rPr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2002536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4DB3F2"/>
                </a:solidFill>
                <a:latin typeface="Aptos"/>
              </a:defRPr>
            </a:pPr>
            <a:r>
              <a:rPr>
                <a:latin typeface="Arial"/>
              </a:rPr>
              <a:t>ELASTIC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551176"/>
            <a:ext cx="17282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850" b="1">
                <a:solidFill>
                  <a:srgbClr val="AAB7C5"/>
                </a:solidFill>
                <a:latin typeface="Aptos"/>
              </a:defRPr>
            </a:pPr>
            <a:r>
              <a:rPr>
                <a:latin typeface="Arial"/>
              </a:rPr>
              <a:t>READ-ONLY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" y="2880360"/>
            <a:ext cx="384048" cy="22860"/>
          </a:xfrm>
          <a:prstGeom prst="rect">
            <a:avLst/>
          </a:prstGeom>
          <a:solidFill>
            <a:srgbClr val="4DB3F2"/>
          </a:solidFill>
          <a:ln>
            <a:solidFill>
              <a:srgbClr val="4DB3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054096"/>
            <a:ext cx="1728216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10">
                <a:solidFill>
                  <a:srgbClr val="F3F6FA"/>
                </a:solidFill>
                <a:latin typeface="Aptos"/>
              </a:defRPr>
            </a:pPr>
            <a:r>
              <a:rPr>
                <a:latin typeface="Arial"/>
              </a:rPr>
              <a:t>Select season, round and session.</a:t>
            </a:r>
          </a:p>
          <a:p>
            <a:pPr>
              <a:spcAft>
                <a:spcPts val="900"/>
              </a:spcAft>
              <a:defRPr sz="1110">
                <a:solidFill>
                  <a:srgbClr val="F3F6FA"/>
                </a:solidFill>
                <a:latin typeface="Aptos"/>
              </a:defRPr>
            </a:pPr>
            <a:r>
              <a:rPr>
                <a:latin typeface="Arial"/>
              </a:rPr>
              <a:t>Telemetry reads are bounded to one driver + lap.</a:t>
            </a:r>
          </a:p>
          <a:p>
            <a:pPr>
              <a:spcAft>
                <a:spcPts val="0"/>
              </a:spcAft>
              <a:defRPr sz="1110">
                <a:solidFill>
                  <a:srgbClr val="F3F6FA"/>
                </a:solidFill>
                <a:latin typeface="Aptos"/>
              </a:defRPr>
            </a:pPr>
            <a:r>
              <a:rPr>
                <a:latin typeface="Arial"/>
              </a:rPr>
              <a:t>No bulk telemetry download.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61488" y="1828800"/>
            <a:ext cx="2057400" cy="3063240"/>
          </a:xfrm>
          <a:prstGeom prst="roundRect">
            <a:avLst>
              <a:gd name="adj" fmla="val 14000"/>
            </a:avLst>
          </a:prstGeom>
          <a:solidFill>
            <a:srgbClr val="151F29"/>
          </a:solidFill>
          <a:ln>
            <a:solidFill>
              <a:srgbClr val="29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70632" y="1837943"/>
            <a:ext cx="2039112" cy="64008"/>
          </a:xfrm>
          <a:prstGeom prst="rect">
            <a:avLst/>
          </a:prstGeom>
          <a:solidFill>
            <a:srgbClr val="F5C65B"/>
          </a:solidFill>
          <a:ln>
            <a:solidFill>
              <a:srgbClr val="F5C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26080" y="2029968"/>
            <a:ext cx="347472" cy="347472"/>
          </a:xfrm>
          <a:prstGeom prst="ellipse">
            <a:avLst/>
          </a:prstGeom>
          <a:solidFill>
            <a:srgbClr val="F5C65B"/>
          </a:solidFill>
          <a:ln>
            <a:solidFill>
              <a:srgbClr val="F5C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2025395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0D131A"/>
                </a:solidFill>
                <a:latin typeface="Aptos"/>
              </a:defRPr>
            </a:pPr>
            <a:r>
              <a:rPr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2" y="2002536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F5C65B"/>
                </a:solidFill>
                <a:latin typeface="Aptos"/>
              </a:defRPr>
            </a:pPr>
            <a:r>
              <a:rPr>
                <a:latin typeface="Arial"/>
              </a:rPr>
              <a:t>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551176"/>
            <a:ext cx="17282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850" b="1">
                <a:solidFill>
                  <a:srgbClr val="AAB7C5"/>
                </a:solidFill>
                <a:latin typeface="Aptos"/>
              </a:defRPr>
            </a:pPr>
            <a:r>
              <a:rPr>
                <a:latin typeface="Arial"/>
              </a:rPr>
              <a:t>VALIDATE + ENGINEER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2880360"/>
            <a:ext cx="384048" cy="22860"/>
          </a:xfrm>
          <a:prstGeom prst="rect">
            <a:avLst/>
          </a:prstGeom>
          <a:solidFill>
            <a:srgbClr val="F5C65B"/>
          </a:solidFill>
          <a:ln>
            <a:solidFill>
              <a:srgbClr val="F5C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0" y="3054096"/>
            <a:ext cx="1728216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10">
                <a:solidFill>
                  <a:srgbClr val="F3F6FA"/>
                </a:solidFill>
                <a:latin typeface="Aptos"/>
              </a:defRPr>
            </a:pPr>
            <a:r>
              <a:rPr>
                <a:latin typeface="Arial"/>
              </a:rPr>
              <a:t>Validate records and units.</a:t>
            </a:r>
          </a:p>
          <a:p>
            <a:pPr>
              <a:spcAft>
                <a:spcPts val="900"/>
              </a:spcAft>
              <a:defRPr sz="1110">
                <a:solidFill>
                  <a:srgbClr val="F3F6FA"/>
                </a:solidFill>
                <a:latin typeface="Aptos"/>
              </a:defRPr>
            </a:pPr>
            <a:r>
              <a:rPr>
                <a:latin typeface="Arial"/>
              </a:rPr>
              <a:t>Exclude lap 1 and pit-in/out laps.</a:t>
            </a:r>
          </a:p>
          <a:p>
            <a:pPr>
              <a:spcAft>
                <a:spcPts val="900"/>
              </a:spcAft>
              <a:defRPr sz="1110">
                <a:solidFill>
                  <a:srgbClr val="F3F6FA"/>
                </a:solidFill>
                <a:latin typeface="Aptos"/>
              </a:defRPr>
            </a:pPr>
            <a:r>
              <a:rPr>
                <a:latin typeface="Arial"/>
              </a:rPr>
              <a:t>Apply the 1.07× driver-median cutoff.</a:t>
            </a:r>
          </a:p>
          <a:p>
            <a:pPr>
              <a:spcAft>
                <a:spcPts val="0"/>
              </a:spcAft>
              <a:defRPr sz="1110">
                <a:solidFill>
                  <a:srgbClr val="F3F6FA"/>
                </a:solidFill>
                <a:latin typeface="Aptos"/>
              </a:defRPr>
            </a:pPr>
            <a:r>
              <a:rPr>
                <a:latin typeface="Arial"/>
              </a:rPr>
              <a:t>Aggregate median, spread and sample count.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0056" y="1828800"/>
            <a:ext cx="2057400" cy="3063240"/>
          </a:xfrm>
          <a:prstGeom prst="roundRect">
            <a:avLst>
              <a:gd name="adj" fmla="val 14000"/>
            </a:avLst>
          </a:prstGeom>
          <a:solidFill>
            <a:srgbClr val="151F29"/>
          </a:solidFill>
          <a:ln>
            <a:solidFill>
              <a:srgbClr val="29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0" y="1837943"/>
            <a:ext cx="2039112" cy="64008"/>
          </a:xfrm>
          <a:prstGeom prst="rect">
            <a:avLst/>
          </a:prstGeom>
          <a:solidFill>
            <a:srgbClr val="42D6A1"/>
          </a:solidFill>
          <a:ln>
            <a:solidFill>
              <a:srgbClr val="42D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84648" y="2029968"/>
            <a:ext cx="347472" cy="347472"/>
          </a:xfrm>
          <a:prstGeom prst="ellipse">
            <a:avLst/>
          </a:prstGeom>
          <a:solidFill>
            <a:srgbClr val="42D6A1"/>
          </a:solidFill>
          <a:ln>
            <a:solidFill>
              <a:srgbClr val="42D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84648" y="2025395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0D131A"/>
                </a:solidFill>
                <a:latin typeface="Aptos"/>
              </a:defRPr>
            </a:pPr>
            <a:r>
              <a:rPr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2002536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42D6A1"/>
                </a:solidFill>
                <a:latin typeface="Aptos"/>
              </a:defRPr>
            </a:pPr>
            <a:r>
              <a:rPr>
                <a:latin typeface="Arial"/>
              </a:rPr>
              <a:t>HOPSWORKS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648" y="2551176"/>
            <a:ext cx="17282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850" b="1">
                <a:solidFill>
                  <a:srgbClr val="AAB7C5"/>
                </a:solidFill>
                <a:latin typeface="Aptos"/>
              </a:defRPr>
            </a:pPr>
            <a:r>
              <a:rPr>
                <a:latin typeface="Arial"/>
              </a:rPr>
              <a:t>VERSIONED FEATURE GROUP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84648" y="2880360"/>
            <a:ext cx="384048" cy="22860"/>
          </a:xfrm>
          <a:prstGeom prst="rect">
            <a:avLst/>
          </a:prstGeom>
          <a:solidFill>
            <a:srgbClr val="42D6A1"/>
          </a:solidFill>
          <a:ln>
            <a:solidFill>
              <a:srgbClr val="42D6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84648" y="3054096"/>
            <a:ext cx="1728216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10">
                <a:solidFill>
                  <a:srgbClr val="F3F6FA"/>
                </a:solidFill>
                <a:latin typeface="Aptos"/>
              </a:defRPr>
            </a:pPr>
            <a:r>
              <a:rPr>
                <a:latin typeface="Arial"/>
              </a:rPr>
              <a:t>20 per-driver race summaries.</a:t>
            </a:r>
          </a:p>
          <a:p>
            <a:pPr>
              <a:spcAft>
                <a:spcPts val="900"/>
              </a:spcAft>
              <a:defRPr sz="1110">
                <a:solidFill>
                  <a:srgbClr val="F3F6FA"/>
                </a:solidFill>
                <a:latin typeface="Aptos"/>
              </a:defRPr>
            </a:pPr>
            <a:r>
              <a:rPr>
                <a:latin typeface="Arial"/>
              </a:rPr>
              <a:t>Group: pitlane_f1tele_race_pace</a:t>
            </a:r>
          </a:p>
          <a:p>
            <a:pPr>
              <a:spcAft>
                <a:spcPts val="0"/>
              </a:spcAft>
              <a:defRPr sz="1110">
                <a:solidFill>
                  <a:srgbClr val="F3F6FA"/>
                </a:solidFill>
                <a:latin typeface="Aptos"/>
              </a:defRPr>
            </a:pPr>
            <a:r>
              <a:rPr>
                <a:latin typeface="Arial"/>
              </a:rPr>
              <a:t>Version 1; batch tied to source + filters.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78624" y="1828800"/>
            <a:ext cx="2057400" cy="3063240"/>
          </a:xfrm>
          <a:prstGeom prst="roundRect">
            <a:avLst>
              <a:gd name="adj" fmla="val 14000"/>
            </a:avLst>
          </a:prstGeom>
          <a:solidFill>
            <a:srgbClr val="151F29"/>
          </a:solidFill>
          <a:ln>
            <a:solidFill>
              <a:srgbClr val="29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87768" y="1837943"/>
            <a:ext cx="2039112" cy="64008"/>
          </a:xfrm>
          <a:prstGeom prst="rect">
            <a:avLst/>
          </a:prstGeom>
          <a:solidFill>
            <a:srgbClr val="8BC4FF"/>
          </a:solidFill>
          <a:ln>
            <a:solidFill>
              <a:srgbClr val="8B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443216" y="2029968"/>
            <a:ext cx="347472" cy="347472"/>
          </a:xfrm>
          <a:prstGeom prst="ellipse">
            <a:avLst/>
          </a:prstGeom>
          <a:solidFill>
            <a:srgbClr val="8BC4FF"/>
          </a:solidFill>
          <a:ln>
            <a:solidFill>
              <a:srgbClr val="8B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43216" y="2025395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0D131A"/>
                </a:solidFill>
                <a:latin typeface="Aptos"/>
              </a:defRPr>
            </a:pPr>
            <a:r>
              <a:rPr>
                <a:latin typeface="Arial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7" y="2002536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8BC4FF"/>
                </a:solidFill>
                <a:latin typeface="Aptos"/>
              </a:defRPr>
            </a:pPr>
            <a:r>
              <a:rPr>
                <a:latin typeface="Arial"/>
              </a:rPr>
              <a:t>READ 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43216" y="2551176"/>
            <a:ext cx="17282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850" b="1">
                <a:solidFill>
                  <a:srgbClr val="AAB7C5"/>
                </a:solidFill>
                <a:latin typeface="Aptos"/>
              </a:defRPr>
            </a:pPr>
            <a:r>
              <a:rPr>
                <a:latin typeface="Arial"/>
              </a:rPr>
              <a:t>VERIFY BEFORE USE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43216" y="2880360"/>
            <a:ext cx="384048" cy="22860"/>
          </a:xfrm>
          <a:prstGeom prst="rect">
            <a:avLst/>
          </a:prstGeom>
          <a:solidFill>
            <a:srgbClr val="8BC4FF"/>
          </a:solidFill>
          <a:ln>
            <a:solidFill>
              <a:srgbClr val="8B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43216" y="3054096"/>
            <a:ext cx="1728216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10">
                <a:solidFill>
                  <a:srgbClr val="F3F6FA"/>
                </a:solidFill>
                <a:latin typeface="Aptos"/>
              </a:defRPr>
            </a:pPr>
            <a:r>
              <a:rPr>
                <a:latin typeface="Arial"/>
              </a:rPr>
              <a:t>Read the exact batch back.</a:t>
            </a:r>
          </a:p>
          <a:p>
            <a:pPr>
              <a:spcAft>
                <a:spcPts val="900"/>
              </a:spcAft>
              <a:defRPr sz="1110">
                <a:solidFill>
                  <a:srgbClr val="F3F6FA"/>
                </a:solidFill>
                <a:latin typeface="Aptos"/>
              </a:defRPr>
            </a:pPr>
            <a:r>
              <a:rPr>
                <a:latin typeface="Arial"/>
              </a:rPr>
              <a:t>Check IDs, row count and values.</a:t>
            </a:r>
          </a:p>
          <a:p>
            <a:pPr>
              <a:spcAft>
                <a:spcPts val="0"/>
              </a:spcAft>
              <a:defRPr sz="1110">
                <a:solidFill>
                  <a:srgbClr val="F3F6FA"/>
                </a:solidFill>
                <a:latin typeface="Aptos"/>
              </a:defRPr>
            </a:pPr>
            <a:r>
              <a:rPr>
                <a:latin typeface="Arial"/>
              </a:rPr>
              <a:t>Mismatches block activation.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37192" y="1828800"/>
            <a:ext cx="2057400" cy="3063240"/>
          </a:xfrm>
          <a:prstGeom prst="roundRect">
            <a:avLst>
              <a:gd name="adj" fmla="val 14000"/>
            </a:avLst>
          </a:prstGeom>
          <a:solidFill>
            <a:srgbClr val="151F29"/>
          </a:solidFill>
          <a:ln>
            <a:solidFill>
              <a:srgbClr val="29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46336" y="1837943"/>
            <a:ext cx="2039112" cy="64008"/>
          </a:xfrm>
          <a:prstGeom prst="rect">
            <a:avLst/>
          </a:prstGeom>
          <a:solidFill>
            <a:srgbClr val="C7F36B"/>
          </a:solidFill>
          <a:ln>
            <a:solidFill>
              <a:srgbClr val="C7F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01784" y="2029968"/>
            <a:ext cx="347472" cy="347472"/>
          </a:xfrm>
          <a:prstGeom prst="ellipse">
            <a:avLst/>
          </a:prstGeom>
          <a:solidFill>
            <a:srgbClr val="C7F36B"/>
          </a:solidFill>
          <a:ln>
            <a:solidFill>
              <a:srgbClr val="C7F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01784" y="2025395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0D131A"/>
                </a:solidFill>
                <a:latin typeface="Aptos"/>
              </a:defRPr>
            </a:pPr>
            <a:r>
              <a:rPr>
                <a:latin typeface="Arial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0696" y="2002536"/>
            <a:ext cx="1298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C7F36B"/>
                </a:solidFill>
                <a:latin typeface="Aptos"/>
              </a:defRPr>
            </a:pPr>
            <a:r>
              <a:rPr>
                <a:latin typeface="Arial"/>
              </a:rPr>
              <a:t>PITLANE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01784" y="2551176"/>
            <a:ext cx="172821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850" b="1">
                <a:solidFill>
                  <a:srgbClr val="AAB7C5"/>
                </a:solidFill>
                <a:latin typeface="Aptos"/>
              </a:defRPr>
            </a:pPr>
            <a:r>
              <a:rPr>
                <a:latin typeface="Arial"/>
              </a:rPr>
              <a:t>RACE PACE DASHBOARD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01784" y="2880360"/>
            <a:ext cx="384048" cy="22860"/>
          </a:xfrm>
          <a:prstGeom prst="rect">
            <a:avLst/>
          </a:prstGeom>
          <a:solidFill>
            <a:srgbClr val="C7F36B"/>
          </a:solidFill>
          <a:ln>
            <a:solidFill>
              <a:srgbClr val="C7F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01784" y="3054096"/>
            <a:ext cx="1728216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00"/>
              </a:spcAft>
              <a:defRPr sz="1110">
                <a:solidFill>
                  <a:srgbClr val="F3F6FA"/>
                </a:solidFill>
                <a:latin typeface="Aptos"/>
              </a:defRPr>
            </a:pPr>
            <a:r>
              <a:rPr>
                <a:latin typeface="Arial"/>
              </a:rPr>
              <a:t>Consumes verified Hopsworks summaries.</a:t>
            </a:r>
          </a:p>
          <a:p>
            <a:pPr>
              <a:spcAft>
                <a:spcPts val="0"/>
              </a:spcAft>
              <a:defRPr sz="1110">
                <a:solidFill>
                  <a:srgbClr val="F3F6FA"/>
                </a:solidFill>
                <a:latin typeface="Aptos"/>
              </a:defRPr>
            </a:pPr>
            <a:r>
              <a:rPr>
                <a:latin typeface="Arial"/>
              </a:rPr>
              <a:t>Lap-level evidence stays in Elastic.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2592324" y="3282696"/>
            <a:ext cx="137160" cy="164592"/>
          </a:xfrm>
          <a:prstGeom prst="rightArrow">
            <a:avLst/>
          </a:prstGeom>
          <a:solidFill>
            <a:srgbClr val="526474"/>
          </a:solidFill>
          <a:ln>
            <a:solidFill>
              <a:srgbClr val="526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Arrow 47"/>
          <p:cNvSpPr/>
          <p:nvPr/>
        </p:nvSpPr>
        <p:spPr>
          <a:xfrm>
            <a:off x="4850892" y="3282696"/>
            <a:ext cx="137160" cy="164592"/>
          </a:xfrm>
          <a:prstGeom prst="rightArrow">
            <a:avLst/>
          </a:prstGeom>
          <a:solidFill>
            <a:srgbClr val="526474"/>
          </a:solidFill>
          <a:ln>
            <a:solidFill>
              <a:srgbClr val="526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ight Arrow 48"/>
          <p:cNvSpPr/>
          <p:nvPr/>
        </p:nvSpPr>
        <p:spPr>
          <a:xfrm>
            <a:off x="7109460" y="3282696"/>
            <a:ext cx="137160" cy="164592"/>
          </a:xfrm>
          <a:prstGeom prst="rightArrow">
            <a:avLst/>
          </a:prstGeom>
          <a:solidFill>
            <a:srgbClr val="526474"/>
          </a:solidFill>
          <a:ln>
            <a:solidFill>
              <a:srgbClr val="526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ight Arrow 49"/>
          <p:cNvSpPr/>
          <p:nvPr/>
        </p:nvSpPr>
        <p:spPr>
          <a:xfrm>
            <a:off x="9368028" y="3282696"/>
            <a:ext cx="137160" cy="164592"/>
          </a:xfrm>
          <a:prstGeom prst="rightArrow">
            <a:avLst/>
          </a:prstGeom>
          <a:solidFill>
            <a:srgbClr val="526474"/>
          </a:solidFill>
          <a:ln>
            <a:solidFill>
              <a:srgbClr val="526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02920" y="5193792"/>
            <a:ext cx="11091672" cy="1005840"/>
          </a:xfrm>
          <a:prstGeom prst="roundRect">
            <a:avLst>
              <a:gd name="adj" fmla="val 14000"/>
            </a:avLst>
          </a:prstGeom>
          <a:solidFill>
            <a:srgbClr val="111A23"/>
          </a:solidFill>
          <a:ln>
            <a:solidFill>
              <a:srgbClr val="29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532180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850" b="1">
                <a:solidFill>
                  <a:srgbClr val="42D6A1"/>
                </a:solidFill>
                <a:latin typeface="Aptos"/>
              </a:defRPr>
            </a:pPr>
            <a:r>
              <a:rPr>
                <a:latin typeface="Arial"/>
              </a:rPr>
              <a:t>CURRENT VERIFIED BATCH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5577840"/>
            <a:ext cx="44348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F3F6FA"/>
                </a:solidFill>
                <a:latin typeface="Aptos"/>
              </a:defRPr>
            </a:pPr>
            <a:r>
              <a:rPr>
                <a:latin typeface="Arial"/>
              </a:rPr>
              <a:t>2024 Dutch GP  ·  R15  ·  Race  ·  20 drivers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20" y="5367528"/>
            <a:ext cx="10972" cy="603504"/>
          </a:xfrm>
          <a:prstGeom prst="rect">
            <a:avLst/>
          </a:prstGeom>
          <a:solidFill>
            <a:srgbClr val="293744"/>
          </a:solidFill>
          <a:ln>
            <a:solidFill>
              <a:srgbClr val="2937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79008" y="532180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850" b="1">
                <a:solidFill>
                  <a:srgbClr val="F5C65B"/>
                </a:solidFill>
                <a:latin typeface="Aptos"/>
              </a:defRPr>
            </a:pPr>
            <a:r>
              <a:rPr>
                <a:latin typeface="Arial"/>
              </a:rPr>
              <a:t>SCOPE BOUNDARY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79008" y="5550408"/>
            <a:ext cx="55321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0">
                <a:solidFill>
                  <a:srgbClr val="AAB7C5"/>
                </a:solidFill>
                <a:latin typeface="Aptos"/>
              </a:defRPr>
            </a:pPr>
            <a:r>
              <a:rPr>
                <a:latin typeface="Arial"/>
              </a:rPr>
              <a:t>Ghost Lap, Pitwall, Pace Detective and Driver DNA remain separate local prototypes.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1207" y="644652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800" b="1">
                <a:solidFill>
                  <a:srgbClr val="758696"/>
                </a:solidFill>
                <a:latin typeface="Aptos"/>
              </a:defRPr>
            </a:pPr>
            <a:r>
              <a:rPr>
                <a:latin typeface="Arial"/>
              </a:rPr>
              <a:t>READ-ONLY SOURCE  ·  NO FULL TELEMETRY INGEST  ·  FEATURE VALUES VERIFIED BEFORE DASHBOARD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Elastic + Hopsworks: Race Pace Workflow</dc:title>
  <dc:subject>Verified race pace feature pipeline</dc:subject>
  <dc:creator>Pitlane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